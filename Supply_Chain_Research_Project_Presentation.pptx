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70716/reswara.v2i3.378" TargetMode="External"/><Relationship Id="rId2" Type="http://schemas.openxmlformats.org/officeDocument/2006/relationships/hyperlink" Target="https://doi.org/10.1016/j.matpr.2022.09.29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16/j.orp.2020.100164" TargetMode="External"/><Relationship Id="rId5" Type="http://schemas.openxmlformats.org/officeDocument/2006/relationships/hyperlink" Target="https://doi.org/10.1016/j.rcim.2021.102226" TargetMode="External"/><Relationship Id="rId4" Type="http://schemas.openxmlformats.org/officeDocument/2006/relationships/hyperlink" Target="https://doi.org/10.1016/j.ejor.2009.05.00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7498079" cy="1417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A Data-Driven Supply Chain</a:t>
            </a:r>
            <a:br/>
            <a:r>
              <a:t>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63240"/>
            <a:ext cx="7132320" cy="7772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000" b="0">
                <a:solidFill>
                  <a:srgbClr val="DAE6F4"/>
                </a:solidFill>
                <a:latin typeface="Aptos"/>
              </a:defRPr>
            </a:pPr>
            <a:r>
              <a:t>For Inventory Optimization and Supplier Performance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4160520"/>
            <a:ext cx="960120" cy="54864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4526280"/>
            <a:ext cx="6217920" cy="618631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Shubham Sahu</a:t>
            </a:r>
            <a:endParaRPr lang="en-IN" dirty="0"/>
          </a:p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Roll No: 44033025050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282569"/>
            <a:ext cx="45720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500" b="0">
                <a:solidFill>
                  <a:srgbClr val="DAE6F4"/>
                </a:solidFill>
                <a:latin typeface="Aptos"/>
              </a:defRPr>
            </a:pPr>
            <a:r>
              <a:rPr dirty="0"/>
              <a:t>MSc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715000"/>
            <a:ext cx="713232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200" b="0">
                <a:solidFill>
                  <a:srgbClr val="DAE6F4"/>
                </a:solidFill>
                <a:latin typeface="Aptos"/>
              </a:defRPr>
            </a:pPr>
            <a:r>
              <a:t>Dataset period: January 2023 – December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143000"/>
            <a:ext cx="2423160" cy="822960"/>
          </a:xfrm>
          <a:prstGeom prst="round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62288" y="1389888"/>
            <a:ext cx="21945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514600"/>
            <a:ext cx="24231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62288" y="2761488"/>
            <a:ext cx="21945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500" b="1">
                <a:solidFill>
                  <a:srgbClr val="162B4A"/>
                </a:solidFill>
                <a:latin typeface="Aptos"/>
              </a:defRPr>
            </a:pPr>
            <a:r>
              <a:t>SUPPLIERS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886200"/>
            <a:ext cx="2423160" cy="822960"/>
          </a:xfrm>
          <a:prstGeom prst="roundRect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62288" y="4133087"/>
            <a:ext cx="21945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500" b="1">
                <a:solidFill>
                  <a:srgbClr val="162B4A"/>
                </a:solidFill>
                <a:latin typeface="Aptos"/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78992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800" b="1">
                <a:solidFill>
                  <a:srgbClr val="162B4A"/>
                </a:solidFill>
                <a:latin typeface="Aptos"/>
              </a:defRPr>
            </a:pPr>
            <a:r>
              <a:t>Introduction /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20624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defRPr sz="1200" b="1">
                <a:solidFill>
                  <a:srgbClr val="2A69A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05840"/>
            <a:ext cx="960120" cy="54864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MSc Data Science | Supply Chain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100" b="1">
                <a:solidFill>
                  <a:srgbClr val="162B4A"/>
                </a:solidFill>
                <a:latin typeface="Aptos"/>
              </a:defRPr>
            </a:pPr>
            <a:r>
              <a:t>This project combines supply chain analytics and inventory-management methods to support better operational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34015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2331720"/>
            <a:ext cx="3401568" cy="109728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578608"/>
            <a:ext cx="3017520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400" b="1">
                <a:solidFill>
                  <a:srgbClr val="2A69AD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26080"/>
            <a:ext cx="29718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1">
                <a:solidFill>
                  <a:srgbClr val="2A3441"/>
                </a:solidFill>
                <a:latin typeface="Aptos"/>
              </a:defRPr>
            </a:pPr>
            <a:r>
              <a:t>Synthetic dataset covering 2023–2025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31720"/>
            <a:ext cx="34015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331720"/>
            <a:ext cx="3401568" cy="109728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578608"/>
            <a:ext cx="3017520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400" b="1">
                <a:solidFill>
                  <a:srgbClr val="1D918E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26080"/>
            <a:ext cx="29718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1">
                <a:solidFill>
                  <a:srgbClr val="2A3441"/>
                </a:solidFill>
                <a:latin typeface="Aptos"/>
              </a:defRPr>
            </a:pPr>
            <a:r>
              <a:t>Products, inventory and supplier deliveries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331720"/>
            <a:ext cx="3401568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47888" y="2331720"/>
            <a:ext cx="3401568" cy="109728"/>
          </a:xfrm>
          <a:prstGeom prst="rect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7" y="2578608"/>
            <a:ext cx="3017520" cy="25603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400" b="1">
                <a:solidFill>
                  <a:srgbClr val="EEB142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7" y="2926080"/>
            <a:ext cx="29718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1">
                <a:solidFill>
                  <a:srgbClr val="2A3441"/>
                </a:solidFill>
                <a:latin typeface="Aptos"/>
              </a:defRPr>
            </a:pPr>
            <a:r>
              <a:t>Inventory indicators and supplier scorecards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10515600" cy="2057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Dataset includes 500 products, 30 suppliers and 5 warehouses.</a:t>
            </a:r>
          </a:p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Analysis covers orders, deliveries, inventory and product costs.</a:t>
            </a:r>
          </a:p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Results are presented through an interactive Power BI report.</a:t>
            </a:r>
          </a:p>
          <a:p>
            <a:pPr>
              <a:spcAft>
                <a:spcPts val="10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The dataset is synthetic; results demonstrate the approach, not verified real-company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78992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800" b="1">
                <a:solidFill>
                  <a:srgbClr val="162B4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20624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defRPr sz="1200" b="1">
                <a:solidFill>
                  <a:srgbClr val="2A69A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05840"/>
            <a:ext cx="960120" cy="54864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MSc Data Science | Supply Chain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1069848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200" b="1">
                <a:solidFill>
                  <a:srgbClr val="162B4A"/>
                </a:solidFill>
                <a:latin typeface="Aptos"/>
              </a:defRPr>
            </a:pPr>
            <a:r>
              <a:t>Supply chain teams must balance product availability, inventory cost and supplier reliability.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07492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502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1D918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86584"/>
            <a:ext cx="397763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162B4A"/>
                </a:solidFill>
                <a:latin typeface="Aptos"/>
              </a:defRPr>
            </a:pPr>
            <a:r>
              <a:t>Excess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70632"/>
            <a:ext cx="3977639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400" b="0">
                <a:solidFill>
                  <a:srgbClr val="5F6C7B"/>
                </a:solidFill>
                <a:latin typeface="Aptos"/>
              </a:defRPr>
            </a:pPr>
            <a:r>
              <a:t>Ties up working capital and increases holding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240280"/>
            <a:ext cx="507492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423160"/>
            <a:ext cx="502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1D918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2386584"/>
            <a:ext cx="397763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162B4A"/>
                </a:solidFill>
                <a:latin typeface="Aptos"/>
              </a:defRPr>
            </a:pPr>
            <a:r>
              <a:t>Stockout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770632"/>
            <a:ext cx="3977639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400" b="0">
                <a:solidFill>
                  <a:srgbClr val="5F6C7B"/>
                </a:solidFill>
                <a:latin typeface="Aptos"/>
              </a:defRPr>
            </a:pPr>
            <a:r>
              <a:t>Insufficient stock can interrupt sales and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07492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02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1D918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95344"/>
            <a:ext cx="397763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162B4A"/>
                </a:solidFill>
                <a:latin typeface="Aptos"/>
              </a:defRPr>
            </a:pPr>
            <a:r>
              <a:t>Demand differences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79392"/>
            <a:ext cx="3977639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400" b="0">
                <a:solidFill>
                  <a:srgbClr val="5F6C7B"/>
                </a:solidFill>
                <a:latin typeface="Aptos"/>
              </a:defRPr>
            </a:pPr>
            <a:r>
              <a:t>Products vary in demand, value and variability.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507492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502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1D918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3895344"/>
            <a:ext cx="397763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800" b="1">
                <a:solidFill>
                  <a:srgbClr val="162B4A"/>
                </a:solidFill>
                <a:latin typeface="Aptos"/>
              </a:defRPr>
            </a:pPr>
            <a:r>
              <a:t>Supplier 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4279392"/>
            <a:ext cx="3977639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400" b="0">
                <a:solidFill>
                  <a:srgbClr val="5F6C7B"/>
                </a:solidFill>
                <a:latin typeface="Aptos"/>
              </a:defRPr>
            </a:pPr>
            <a:r>
              <a:t>Late deliveries, defects and incomplete orders affect planning.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1">
                <a:solidFill>
                  <a:srgbClr val="2A69AD"/>
                </a:solidFill>
                <a:latin typeface="Aptos"/>
              </a:defRPr>
            </a:pPr>
            <a:r>
              <a:t>Project question: How can multiple supply chain indicators be combined into one practical decision-support framework?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78992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800" b="1">
                <a:solidFill>
                  <a:srgbClr val="162B4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20624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defRPr sz="1200" b="1">
                <a:solidFill>
                  <a:srgbClr val="2A69A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05840"/>
            <a:ext cx="960120" cy="54864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MSc Data Science | Supply Chain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500" b="1">
                <a:solidFill>
                  <a:srgbClr val="1D918E"/>
                </a:solidFill>
                <a:latin typeface="Aptos"/>
              </a:defRPr>
            </a:pPr>
            <a:r>
              <a:t>PRIMARY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515600" cy="7772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100" b="1">
                <a:solidFill>
                  <a:srgbClr val="162B4A"/>
                </a:solidFill>
                <a:latin typeface="Aptos"/>
              </a:defRPr>
            </a:pPr>
            <a:r>
              <a:t>Build a data-driven framework that brings inventory optimization, product segmentation and supplier performance analysis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743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500" b="1">
                <a:solidFill>
                  <a:srgbClr val="1D918E"/>
                </a:solidFill>
                <a:latin typeface="Aptos"/>
              </a:defRPr>
            </a:pPr>
            <a:r>
              <a:t>SPECIFIC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1033272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Clean, validate and explore supply chain data.</a:t>
            </a:r>
          </a:p>
          <a:p>
            <a:pPr>
              <a:spcAft>
                <a:spcPts val="12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Classify products using ABC analysis and K-Means clustering.</a:t>
            </a:r>
          </a:p>
          <a:p>
            <a:pPr>
              <a:spcAft>
                <a:spcPts val="12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Calculate EOQ, safety stock and reorder points.</a:t>
            </a:r>
          </a:p>
          <a:p>
            <a:pPr>
              <a:spcAft>
                <a:spcPts val="12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Evaluate suppliers using delivery, quality, fulfillment and lead-time metrics.</a:t>
            </a:r>
          </a:p>
          <a:p>
            <a:pPr>
              <a:spcAft>
                <a:spcPts val="12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Build a Power BI dashboard to communicate results and support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78992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800" b="1">
                <a:solidFill>
                  <a:srgbClr val="162B4A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20624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defRPr sz="1200" b="1">
                <a:solidFill>
                  <a:srgbClr val="2A69A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05840"/>
            <a:ext cx="960120" cy="54864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16642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8407" y="1481328"/>
            <a:ext cx="621792" cy="621792"/>
          </a:xfrm>
          <a:prstGeom prst="round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1645920"/>
            <a:ext cx="621792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481328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400" b="1">
                <a:solidFill>
                  <a:srgbClr val="162B4A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481328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200" b="0">
                <a:solidFill>
                  <a:srgbClr val="5F6C7B"/>
                </a:solidFill>
                <a:latin typeface="Aptos"/>
              </a:defRPr>
            </a:pPr>
            <a:r>
              <a:t>Synthetic data</a:t>
            </a:r>
            <a:br/>
            <a:r>
              <a:t>2023–2025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697480"/>
            <a:ext cx="2743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800" b="1">
                <a:solidFill>
                  <a:srgbClr val="2A69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4872" y="1965960"/>
            <a:ext cx="16642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079" y="1481328"/>
            <a:ext cx="621792" cy="621792"/>
          </a:xfrm>
          <a:prstGeom prst="round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79" y="1645920"/>
            <a:ext cx="621792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331720"/>
            <a:ext cx="1481328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400" b="1">
                <a:solidFill>
                  <a:srgbClr val="162B4A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2971800"/>
            <a:ext cx="1481328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200" b="0">
                <a:solidFill>
                  <a:srgbClr val="5F6C7B"/>
                </a:solidFill>
                <a:latin typeface="Aptos"/>
              </a:defRPr>
            </a:pPr>
            <a:r>
              <a:t>Clean, validate,</a:t>
            </a:r>
            <a:br/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697480"/>
            <a:ext cx="2743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800" b="1">
                <a:solidFill>
                  <a:srgbClr val="2A69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1965960"/>
            <a:ext cx="16642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73752" y="1481328"/>
            <a:ext cx="621792" cy="621792"/>
          </a:xfrm>
          <a:prstGeom prst="round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73752" y="1645920"/>
            <a:ext cx="621792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2331720"/>
            <a:ext cx="1481328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400" b="1">
                <a:solidFill>
                  <a:srgbClr val="162B4A"/>
                </a:solidFill>
                <a:latin typeface="Aptos"/>
              </a:defRPr>
            </a:pPr>
            <a:r>
              <a:t>Exploratory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2971800"/>
            <a:ext cx="1481328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200" b="0">
                <a:solidFill>
                  <a:srgbClr val="5F6C7B"/>
                </a:solidFill>
                <a:latin typeface="Aptos"/>
              </a:defRPr>
            </a:pPr>
            <a:r>
              <a:t>Sales, demand,</a:t>
            </a:r>
            <a:br/>
            <a:r>
              <a:t>inventory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2697480"/>
            <a:ext cx="2743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800" b="1">
                <a:solidFill>
                  <a:srgbClr val="2A69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0216" y="1965960"/>
            <a:ext cx="16642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21424" y="1481328"/>
            <a:ext cx="621792" cy="621792"/>
          </a:xfrm>
          <a:prstGeom prst="round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21424" y="1645920"/>
            <a:ext cx="621792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2331720"/>
            <a:ext cx="1481328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400" b="1">
                <a:solidFill>
                  <a:srgbClr val="162B4A"/>
                </a:solidFill>
                <a:latin typeface="Aptos"/>
              </a:defRPr>
            </a:pPr>
            <a:r>
              <a:t>Analytical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5" y="2971800"/>
            <a:ext cx="1481328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200" b="0">
                <a:solidFill>
                  <a:srgbClr val="5F6C7B"/>
                </a:solidFill>
                <a:latin typeface="Aptos"/>
              </a:defRPr>
            </a:pPr>
            <a:r>
              <a:t>ABC, K-Means,</a:t>
            </a:r>
            <a:br/>
            <a:r>
              <a:t>EOQ, ROP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4423" y="2697480"/>
            <a:ext cx="2743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800" b="1">
                <a:solidFill>
                  <a:srgbClr val="2A69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1965960"/>
            <a:ext cx="16642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769096" y="1481328"/>
            <a:ext cx="621792" cy="621792"/>
          </a:xfrm>
          <a:prstGeom prst="round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6" y="1645920"/>
            <a:ext cx="621792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2331720"/>
            <a:ext cx="1481328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400" b="1">
                <a:solidFill>
                  <a:srgbClr val="162B4A"/>
                </a:solidFill>
                <a:latin typeface="Aptos"/>
              </a:defRPr>
            </a:pPr>
            <a:r>
              <a:t>Supplier scoring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2971800"/>
            <a:ext cx="1481328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200" b="0">
                <a:solidFill>
                  <a:srgbClr val="5F6C7B"/>
                </a:solidFill>
                <a:latin typeface="Aptos"/>
              </a:defRPr>
            </a:pPr>
            <a:r>
              <a:t>Delivery, defects,</a:t>
            </a:r>
            <a:br/>
            <a:r>
              <a:t>fulfillment, lead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2697480"/>
            <a:ext cx="2743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800" b="1">
                <a:solidFill>
                  <a:srgbClr val="2A69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59" y="1965960"/>
            <a:ext cx="16642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716767" y="1481328"/>
            <a:ext cx="621792" cy="621792"/>
          </a:xfrm>
          <a:prstGeom prst="round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16767" y="1645920"/>
            <a:ext cx="621792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6999" y="2331720"/>
            <a:ext cx="1481328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400" b="1">
                <a:solidFill>
                  <a:srgbClr val="162B4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6999" y="2971800"/>
            <a:ext cx="1481328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200" b="0">
                <a:solidFill>
                  <a:srgbClr val="5F6C7B"/>
                </a:solidFill>
                <a:latin typeface="Aptos"/>
              </a:defRPr>
            </a:pPr>
            <a:r>
              <a:t>Visualize KPIs</a:t>
            </a:r>
            <a:br/>
            <a:r>
              <a:t>in Power 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4106541"/>
            <a:ext cx="10607040" cy="2599375"/>
          </a:xfrm>
          <a:prstGeom prst="roundRect">
            <a:avLst/>
          </a:prstGeom>
          <a:solidFill>
            <a:srgbClr val="E1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8679" y="4247777"/>
            <a:ext cx="9956145" cy="252684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r>
              <a:rPr lang="en-IN" b="1" dirty="0"/>
              <a:t>Economic Order Quantity (EOQ)</a:t>
            </a:r>
          </a:p>
          <a:p>
            <a:r>
              <a:rPr lang="en-IN" dirty="0"/>
              <a:t>Definition: Economic Order Quantity is the optimal quantity of products a business should order at one time to minimize the total ordering and inventory holding costs.</a:t>
            </a:r>
          </a:p>
          <a:p>
            <a:r>
              <a:rPr lang="en-IN" b="1" dirty="0"/>
              <a:t>Formula: </a:t>
            </a:r>
            <a:r>
              <a:rPr lang="en-IN" dirty="0"/>
              <a:t>EOQ = √(2DS/H)</a:t>
            </a:r>
          </a:p>
          <a:p>
            <a:r>
              <a:rPr lang="en-IN" dirty="0"/>
              <a:t>Where:</a:t>
            </a:r>
          </a:p>
          <a:p>
            <a:pPr lvl="0"/>
            <a:r>
              <a:rPr lang="en-IN" dirty="0"/>
              <a:t>D = Annual demand (units)</a:t>
            </a:r>
          </a:p>
          <a:p>
            <a:pPr lvl="0"/>
            <a:r>
              <a:rPr lang="en-IN" dirty="0"/>
              <a:t>S = Ordering cost per order (₹)</a:t>
            </a:r>
          </a:p>
          <a:p>
            <a:pPr lvl="0"/>
            <a:r>
              <a:rPr lang="en-IN" dirty="0"/>
              <a:t>H = Annual holding cost per unit (₹)</a:t>
            </a:r>
          </a:p>
          <a:p>
            <a:pPr algn="ctr">
              <a:defRPr sz="1600" b="1">
                <a:solidFill>
                  <a:srgbClr val="162B4A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78992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800" b="1">
                <a:solidFill>
                  <a:srgbClr val="162B4A"/>
                </a:solidFill>
                <a:latin typeface="Aptos"/>
              </a:defRPr>
            </a:pPr>
            <a:r>
              <a:t>Tools and Techniques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20624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defRPr sz="1200" b="1">
                <a:solidFill>
                  <a:srgbClr val="2A69A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05840"/>
            <a:ext cx="960120" cy="54864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MSc Data Science | Supply Chain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7492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74920" cy="566928"/>
          </a:xfrm>
          <a:prstGeom prst="round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45720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40280"/>
            <a:ext cx="4526280" cy="3337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Python: analysis and calculations</a:t>
            </a:r>
          </a:p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Pandas and NumPy: data preparation</a:t>
            </a:r>
          </a:p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scikit-learn: K-Means clustering</a:t>
            </a:r>
          </a:p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Excel: dataset and validation</a:t>
            </a:r>
          </a:p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Power BI and DAX: interactive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07492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074920" cy="566928"/>
          </a:xfrm>
          <a:prstGeom prst="round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18488"/>
            <a:ext cx="45720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TECHNIQUES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240280"/>
            <a:ext cx="4526280" cy="3337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Exploratory Data Analysis (EDA)</a:t>
            </a:r>
          </a:p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ABC inventory classification</a:t>
            </a:r>
          </a:p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K-Means product segmentation</a:t>
            </a:r>
          </a:p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EOQ, safety stock and reorder point</a:t>
            </a:r>
          </a:p>
          <a:p>
            <a:pPr>
              <a:spcAft>
                <a:spcPts val="13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Supplier KPI scoring and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80760"/>
            <a:ext cx="1069848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100" b="0">
                <a:solidFill>
                  <a:srgbClr val="5F6C7B"/>
                </a:solidFill>
                <a:latin typeface="Aptos"/>
              </a:defRPr>
            </a:pPr>
            <a:r>
              <a:t>The main workflow uses Python, Excel and Power BI; SQL can support future data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78992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800" b="1">
                <a:solidFill>
                  <a:srgbClr val="162B4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20624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defRPr sz="1200" b="1">
                <a:solidFill>
                  <a:srgbClr val="2A69A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05840"/>
            <a:ext cx="960120" cy="54864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MSc Data Science | Supply Chain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0704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200" b="1">
                <a:solidFill>
                  <a:srgbClr val="162B4A"/>
                </a:solidFill>
                <a:latin typeface="Aptos"/>
              </a:defRPr>
            </a:pPr>
            <a:r>
              <a:t>The project demonstrates how supply chain data can be converted into understandable decision-support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332720" cy="3429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ABC analysis and K-Means help segment products by value and operational characteristics.</a:t>
            </a:r>
          </a:p>
          <a:p>
            <a:pPr>
              <a:spcAft>
                <a:spcPts val="12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EOQ, safety stock and reorder point provide a structured way to reason about replenishment.</a:t>
            </a:r>
          </a:p>
          <a:p>
            <a:pPr>
              <a:spcAft>
                <a:spcPts val="12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Supplier KPIs make delivery reliability and quality easier to compare.</a:t>
            </a:r>
          </a:p>
          <a:p>
            <a:pPr>
              <a:spcAft>
                <a:spcPts val="12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Power BI brings the analysis into one interactive reporting environment.</a:t>
            </a:r>
          </a:p>
          <a:p>
            <a:pPr>
              <a:spcAft>
                <a:spcPts val="12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The dataset is synthetic; validation with real company data is required before operational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15000"/>
            <a:ext cx="10607040" cy="5029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843016"/>
            <a:ext cx="1028700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Future scope: test with real data, refine assumptions and evaluate decisions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78992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800" b="1">
                <a:solidFill>
                  <a:srgbClr val="162B4A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20624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defRPr sz="1200" b="1">
                <a:solidFill>
                  <a:srgbClr val="2A69A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05840"/>
            <a:ext cx="960120" cy="54864"/>
          </a:xfrm>
          <a:prstGeom prst="rect">
            <a:avLst/>
          </a:prstGeom>
          <a:solidFill>
            <a:srgbClr val="1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MSc Data Science | Supply Chain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972800" cy="3962367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rPr sz="1400" dirty="0"/>
              <a:t>•  1. “Selective Inventory Classification Using ABC Classification, Multi-Criteria Decision Making Techniques, and Machine Learning Techniques.” Materials Today: Proceedings. </a:t>
            </a:r>
            <a:r>
              <a:rPr sz="1400" dirty="0">
                <a:hlinkClick r:id="rId2"/>
              </a:rPr>
              <a:t>https://doi.org/10.1016/j.matpr.2022.09.298</a:t>
            </a:r>
            <a:endParaRPr lang="en-IN" sz="1400" dirty="0"/>
          </a:p>
          <a:p>
            <a:pPr>
              <a:lnSpc>
                <a:spcPct val="150000"/>
              </a:lnSpc>
              <a:spcAft>
                <a:spcPts val="9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rPr sz="1400" dirty="0"/>
              <a:t>•  2. Saputra, D. P., </a:t>
            </a:r>
            <a:r>
              <a:rPr sz="1400" dirty="0" err="1"/>
              <a:t>Wardhani</a:t>
            </a:r>
            <a:r>
              <a:rPr sz="1400" dirty="0"/>
              <a:t>, D. K., &amp; Passon, M. F. (2024). “Optimization of Inventory Control Using Economic Order Quantity and Safety Stock Approach.” RESWARA: </a:t>
            </a:r>
            <a:r>
              <a:rPr sz="1400" dirty="0" err="1"/>
              <a:t>Jurnal</a:t>
            </a:r>
            <a:r>
              <a:rPr sz="1400" dirty="0"/>
              <a:t> Riset </a:t>
            </a:r>
            <a:r>
              <a:rPr sz="1400" dirty="0" err="1"/>
              <a:t>Ilmu</a:t>
            </a:r>
            <a:r>
              <a:rPr sz="1400" dirty="0"/>
              <a:t> Teknik, 2(3), 100–107. </a:t>
            </a:r>
            <a:r>
              <a:rPr sz="1400" dirty="0">
                <a:hlinkClick r:id="rId3"/>
              </a:rPr>
              <a:t>https://doi.org/10.70716/reswara.v2i3.378</a:t>
            </a:r>
            <a:endParaRPr lang="en-IN" sz="1400" dirty="0"/>
          </a:p>
          <a:p>
            <a:pPr>
              <a:lnSpc>
                <a:spcPct val="150000"/>
              </a:lnSpc>
              <a:spcAft>
                <a:spcPts val="9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rPr sz="1400" dirty="0"/>
              <a:t>•  3. Ho, W., Xu, X., &amp; Dey, P. K. (2010). “Multi-criteria decision making approaches for supplier evaluation and selection: A literature review.” European Journal of Operational Research, 202(1), 16–24. </a:t>
            </a:r>
            <a:r>
              <a:rPr sz="1400" dirty="0">
                <a:hlinkClick r:id="rId4"/>
              </a:rPr>
              <a:t>https://doi.org/10.1016/j.ejor.2009.05.009</a:t>
            </a:r>
            <a:br>
              <a:rPr lang="en-IN" sz="1400" dirty="0"/>
            </a:br>
            <a:r>
              <a:rPr sz="1400" dirty="0"/>
              <a:t>•  4. </a:t>
            </a:r>
            <a:r>
              <a:rPr sz="1400" dirty="0" err="1"/>
              <a:t>Teerasoponpong</a:t>
            </a:r>
            <a:r>
              <a:rPr sz="1400" dirty="0"/>
              <a:t>, S., &amp; </a:t>
            </a:r>
            <a:r>
              <a:rPr sz="1400" dirty="0" err="1"/>
              <a:t>Sopadang</a:t>
            </a:r>
            <a:r>
              <a:rPr sz="1400" dirty="0"/>
              <a:t>, A. (2022). “Decision support system for adaptive sourcing and inventory management in small- and medium-sized enterprises.” Robotics and Computer-Integrated Manufacturing, 73, 102226. </a:t>
            </a:r>
            <a:r>
              <a:rPr sz="1400" dirty="0">
                <a:hlinkClick r:id="rId5"/>
              </a:rPr>
              <a:t>https://doi.org/10.1016/j.rcim.2021.102226</a:t>
            </a:r>
            <a:endParaRPr lang="en-IN" sz="1400" dirty="0"/>
          </a:p>
          <a:p>
            <a:pPr>
              <a:lnSpc>
                <a:spcPct val="150000"/>
              </a:lnSpc>
              <a:spcAft>
                <a:spcPts val="900"/>
              </a:spcAft>
              <a:defRPr sz="1100">
                <a:solidFill>
                  <a:srgbClr val="2A3441"/>
                </a:solidFill>
                <a:latin typeface="Aptos"/>
              </a:defRPr>
            </a:pPr>
            <a:r>
              <a:rPr sz="1400" dirty="0"/>
              <a:t>•  5. “Operations Research Models and Methods for Safety Stock Determination: A Review.” Operations Research Perspectives (2020). </a:t>
            </a:r>
            <a:r>
              <a:rPr sz="1400" dirty="0">
                <a:hlinkClick r:id="rId6"/>
              </a:rPr>
              <a:t>https://doi.org/10.1016/j.orp.2020.100164</a:t>
            </a:r>
            <a:br>
              <a:rPr lang="en-IN" sz="1400" dirty="0"/>
            </a:b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749808" y="6245352"/>
            <a:ext cx="10698480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0">
                <a:solidFill>
                  <a:srgbClr val="5F6C7B"/>
                </a:solidFill>
                <a:latin typeface="Aptos"/>
              </a:defRPr>
            </a:pPr>
            <a:r>
              <a:t>Dataset: project-generated synthetic data, January 2023–December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920</Words>
  <Application>Microsoft Office PowerPoint</Application>
  <PresentationFormat>Widescreen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Sahu</cp:lastModifiedBy>
  <cp:revision>2</cp:revision>
  <dcterms:created xsi:type="dcterms:W3CDTF">2013-01-27T09:14:16Z</dcterms:created>
  <dcterms:modified xsi:type="dcterms:W3CDTF">2026-10-13T18:40:44Z</dcterms:modified>
  <cp:category/>
</cp:coreProperties>
</file>